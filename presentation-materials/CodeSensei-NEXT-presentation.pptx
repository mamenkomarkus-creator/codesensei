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slide+xml" PartName="/ppt/slides/slide1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66" r:id="rId1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6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73b7d3f2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f73b7d3f2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73b7d3f2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345a2c0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345a2c0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7345a2c0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3b7d3f2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73b7d3f2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73b7d3f2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3b7d3f2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73b7d3f2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73b7d3f24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345a2c0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345a2c0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7345a2c0c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3b7d3f24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3b7d3f2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73b7d3f24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3b7d3f24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3b7d3f24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73b7d3f24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3b7d3f24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73b7d3f24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73b7d3f24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345a2c0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7345a2c0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7345a2c0c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Page v2">
  <p:cSld name="Intro Page v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22729" y="1122363"/>
            <a:ext cx="7198659" cy="33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  <a:defRPr b="0" i="0" u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22725" y="4831975"/>
            <a:ext cx="7198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9pPr>
          </a:lstStyle>
          <a:p/>
        </p:txBody>
      </p:sp>
      <p:sp>
        <p:nvSpPr>
          <p:cNvPr id="18" name="Google Shape;18;p2"/>
          <p:cNvSpPr txBox="1"/>
          <p:nvPr/>
        </p:nvSpPr>
        <p:spPr>
          <a:xfrm>
            <a:off x="10033686" y="6220407"/>
            <a:ext cx="18360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nextstudy.eu</a:t>
            </a:r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13500" y="0"/>
            <a:ext cx="19939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950" y="104275"/>
            <a:ext cx="3519326" cy="7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75" y="262350"/>
            <a:ext cx="6917576" cy="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/>
          <p:nvPr>
            <p:ph idx="2" type="body"/>
          </p:nvPr>
        </p:nvSpPr>
        <p:spPr>
          <a:xfrm>
            <a:off x="337075" y="5452375"/>
            <a:ext cx="7170000" cy="10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2pPr>
            <a:lvl3pPr indent="-228600" lvl="2" marL="137160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3pPr>
            <a:lvl4pPr indent="-228600" lvl="3" marL="1828800"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4pPr>
            <a:lvl5pPr indent="-228600" lvl="4" marL="228600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5pPr>
            <a:lvl6pPr indent="-381000" lvl="5" marL="27432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322875" y="314575"/>
            <a:ext cx="100899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322725" y="1459350"/>
            <a:ext cx="11546400" cy="4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3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3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599" y="6356350"/>
            <a:ext cx="32586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15350" y="314575"/>
            <a:ext cx="1253928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 1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322875" y="314575"/>
            <a:ext cx="10030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15350" y="314575"/>
            <a:ext cx="1253928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>
            <p:ph idx="2" type="pic"/>
          </p:nvPr>
        </p:nvSpPr>
        <p:spPr>
          <a:xfrm>
            <a:off x="786525" y="1504075"/>
            <a:ext cx="1924800" cy="1924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Page">
  <p:cSld name="Thank you Pag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ctrTitle"/>
          </p:nvPr>
        </p:nvSpPr>
        <p:spPr>
          <a:xfrm>
            <a:off x="322729" y="2400300"/>
            <a:ext cx="11470342" cy="2117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0" i="0" sz="4800" u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2263" y="6220407"/>
            <a:ext cx="57737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nextstudy.eu</a:t>
            </a:r>
            <a:endParaRPr b="0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275" y="314150"/>
            <a:ext cx="3316150" cy="10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0525" y="5612004"/>
            <a:ext cx="4002550" cy="8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22729" y="314582"/>
            <a:ext cx="11546542" cy="114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22729" y="1825625"/>
            <a:ext cx="1154654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22729" y="6356350"/>
            <a:ext cx="32586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599" y="6356350"/>
            <a:ext cx="32586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10" Type="http://schemas.openxmlformats.org/officeDocument/2006/relationships/image" Target="../media/metalab.png"/><Relationship Id="rId11" Type="http://schemas.openxmlformats.org/officeDocument/2006/relationships/image" Target="../media/campus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10" Type="http://schemas.openxmlformats.org/officeDocument/2006/relationships/image" Target="../media/vr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10" Type="http://schemas.openxmlformats.org/officeDocument/2006/relationships/image" Target="../media/terminal.png"/><Relationship Id="rId11" Type="http://schemas.openxmlformats.org/officeDocument/2006/relationships/image" Target="../media/presets.png"/><Relationship Id="rId12" Type="http://schemas.openxmlformats.org/officeDocument/2006/relationships/image" Target="../media/paste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10" Type="http://schemas.openxmlformats.org/officeDocument/2006/relationships/image" Target="../media/qrGithub.png"/><Relationship Id="rId11" Type="http://schemas.openxmlformats.org/officeDocument/2006/relationships/image" Target="../media/qrPaste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ctrTitle"/>
          </p:nvPr>
        </p:nvSpPr>
        <p:spPr>
          <a:xfrm>
            <a:off x="322725" y="1435000"/>
            <a:ext cx="8003700" cy="15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lang="en-GB"/>
              <a:t>CodeSensei</a:t>
            </a:r>
            <a:endParaRPr/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308275" y="3293988"/>
            <a:ext cx="7198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Nomination:</a:t>
            </a:r>
            <a:r>
              <a:rPr lang="en-GB"/>
              <a:t> Nomination I — Virtual university location</a:t>
            </a:r>
            <a:endParaRPr/>
          </a:p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322675" y="3914400"/>
            <a:ext cx="7170000" cy="9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Team </a:t>
            </a:r>
            <a:r>
              <a:rPr b="1" lang="en-GB"/>
              <a:t>CodeSensei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Igor Sikorsky Kyiv Polytechnic Institute</a:t>
            </a:r>
            <a:endParaRPr/>
          </a:p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322675" y="5034600"/>
            <a:ext cx="7170000" cy="15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Team members: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Mark Mamenko, Kateryna Shozda, Denys Ilienko, Sviatoslav Pavlenko, Dmytro Poshytyniuk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322875" y="314575"/>
            <a:ext cx="100308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Team</a:t>
            </a:r>
            <a:endParaRPr/>
          </a:p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1335775" y="1244575"/>
            <a:ext cx="1924800" cy="1924800"/>
          </a:xfrm>
          <a:prstGeom prst="ellipse">
            <a:avLst/>
          </a:prstGeom>
        </p:spPr>
      </p:sp>
      <p:sp>
        <p:nvSpPr>
          <p:cNvPr id="55" name="Google Shape;55;p7"/>
          <p:cNvSpPr txBox="1"/>
          <p:nvPr/>
        </p:nvSpPr>
        <p:spPr>
          <a:xfrm>
            <a:off x="70877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Mark Mamenko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Team lead. Backend API, Gemini proxy, Render hosting.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5133600" y="1244575"/>
            <a:ext cx="1924800" cy="1924800"/>
          </a:xfrm>
          <a:prstGeom prst="ellipse">
            <a:avLst/>
          </a:prstGeom>
        </p:spPr>
      </p:sp>
      <p:sp>
        <p:nvSpPr>
          <p:cNvPr id="57" name="Google Shape;57;p7"/>
          <p:cNvSpPr txBox="1"/>
          <p:nvPr/>
        </p:nvSpPr>
        <p:spPr>
          <a:xfrm>
            <a:off x="4506600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Kateryna Shozda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Learning design. OOP presets and mentor prompts.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8" name="Google Shape;58;p7"/>
          <p:cNvSpPr/>
          <p:nvPr>
            <p:ph idx="2" type="pic"/>
          </p:nvPr>
        </p:nvSpPr>
        <p:spPr>
          <a:xfrm>
            <a:off x="8931425" y="1244575"/>
            <a:ext cx="1924800" cy="1924800"/>
          </a:xfrm>
          <a:prstGeom prst="ellipse">
            <a:avLst/>
          </a:prstGeom>
        </p:spPr>
      </p:sp>
      <p:sp>
        <p:nvSpPr>
          <p:cNvPr id="59" name="Google Shape;59;p7"/>
          <p:cNvSpPr txBox="1"/>
          <p:nvPr/>
        </p:nvSpPr>
        <p:spPr>
          <a:xfrm>
            <a:off x="830442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Denys Ilienko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Quality assurance. Tests, API contract, demo checklist.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22875" y="6168150"/>
            <a:ext cx="66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Continued on the next slide.</a:t>
            </a:r>
            <a:endParaRPr i="1" sz="2000"/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22725" y="1201400"/>
            <a:ext cx="11546400" cy="50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400"/>
              <a:t>SELECTED LOCATION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Multimedia Laboratory (MetaLab), Igor Sikorsky KPI</a:t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Our MetaLab hall at Igor Sikorsky KPI, a VRChat twin of MacPaw AI Lab. CodeSensei is the mentor in this room: UdonSharp on the client, a .NET 10 proxy on Render, Google Gemini behind it.</a:t>
            </a:r>
            <a:endParaRPr sz="23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/>
              <a:t>MODELLED SCOPE</a:t>
            </a:r>
            <a:endParaRPr b="1" sz="24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In this hall: 24 OOP topics, a five-character review ticket, the /paste page, and one shared screen for the group.</a:t>
            </a:r>
            <a:endParaRPr sz="2000"/>
          </a:p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322875" y="314575"/>
            <a:ext cx="9905700" cy="7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Selected Location</a:t>
            </a:r>
            <a:endParaRPr/>
          </a:p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322875" y="314575"/>
            <a:ext cx="100308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Selected Location</a:t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322800" y="1459375"/>
            <a:ext cx="11546400" cy="4905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</a:rPr>
              <a:t>MetaLab overview — our laboratory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>MetaLab lounge — virtual classroom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77" name="Google Shape;77;p9"/>
          <p:cNvSpPr/>
          <p:nvPr>
            <p:ph idx="2" type="pic"/>
          </p:nvPr>
        </p:nvSpPr>
        <p:spPr>
          <a:xfrm>
            <a:off x="786525" y="1504075"/>
            <a:ext cx="1924800" cy="1924800"/>
          </a:xfrm>
          <a:prstGeom prst="ellipse">
            <a:avLst/>
          </a:prstGeom>
        </p:spPr>
      </p:sp>
      <p:sp>
        <p:nvSpPr>
          <p:cNvPr id="78" name="Google Shape;78;p9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1" name="MetaLab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800" y="1459375"/>
            <a:ext cx="7000000" cy="4300000"/>
          </a:xfrm>
          <a:prstGeom prst="rect">
            <a:avLst/>
          </a:prstGeom>
        </p:spPr>
      </p:pic>
      <p:pic>
        <p:nvPicPr>
          <p:cNvPr id="402" name="Campus"/>
          <p:cNvPicPr>
            <a:picLocks noChangeAspect="0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000" y="1459375"/>
            <a:ext cx="43000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322875" y="314575"/>
            <a:ext cx="100308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 Model</a:t>
            </a:r>
            <a:endParaRPr/>
          </a:p>
        </p:txBody>
      </p:sp>
      <p:sp>
        <p:nvSpPr>
          <p:cNvPr id="85" name="Google Shape;85;p10"/>
          <p:cNvSpPr txBox="1"/>
          <p:nvPr/>
        </p:nvSpPr>
        <p:spPr>
          <a:xfrm>
            <a:off x="322800" y="1459375"/>
            <a:ext cx="11546400" cy="4905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</a:rPr>
              <a:t>MetaLab virtual laboratory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>Workstations in the MetaLab world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786525" y="1504075"/>
            <a:ext cx="1924800" cy="1924800"/>
          </a:xfrm>
          <a:prstGeom prst="ellipse">
            <a:avLst/>
          </a:prstGeom>
        </p:spPr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1" name="VR model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800" y="1459375"/>
            <a:ext cx="115464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322875" y="314575"/>
            <a:ext cx="10089900" cy="8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Artefacts</a:t>
            </a:r>
            <a:endParaRPr/>
          </a:p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438675" y="1198350"/>
            <a:ext cx="3258600" cy="6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200"/>
              <a:t>CodeSensei Terminal</a:t>
            </a:r>
            <a:endParaRPr b="1" sz="2200"/>
          </a:p>
        </p:txBody>
      </p:sp>
      <p:sp>
        <p:nvSpPr>
          <p:cNvPr id="95" name="Google Shape;95;p11"/>
          <p:cNvSpPr txBox="1"/>
          <p:nvPr/>
        </p:nvSpPr>
        <p:spPr>
          <a:xfrm>
            <a:off x="163275" y="1870350"/>
            <a:ext cx="3809400" cy="330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163350" y="5453950"/>
            <a:ext cx="3809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UdonSharp prefab in MetaLab. The answer syncs, so the group reads the same lines.</a:t>
            </a:r>
            <a:endParaRPr sz="2000"/>
          </a:p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>
            <a:off x="4466613" y="1198350"/>
            <a:ext cx="3258600" cy="6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200"/>
              <a:t>OOP preset catalogue</a:t>
            </a:r>
            <a:endParaRPr b="1" sz="2200"/>
          </a:p>
        </p:txBody>
      </p:sp>
      <p:sp>
        <p:nvSpPr>
          <p:cNvPr id="98" name="Google Shape;98;p11"/>
          <p:cNvSpPr txBox="1"/>
          <p:nvPr/>
        </p:nvSpPr>
        <p:spPr>
          <a:xfrm>
            <a:off x="4191213" y="1870350"/>
            <a:ext cx="3809400" cy="330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4191288" y="5453950"/>
            <a:ext cx="3809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Twenty-four short OOP explanations, from encapsulation to class versus object.</a:t>
            </a:r>
            <a:endParaRPr sz="2000"/>
          </a:p>
        </p:txBody>
      </p:sp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8494638" y="1198350"/>
            <a:ext cx="3258600" cy="6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200"/>
              <a:t>AI code-review inbox</a:t>
            </a:r>
            <a:endParaRPr b="1" sz="2200"/>
          </a:p>
        </p:txBody>
      </p:sp>
      <p:sp>
        <p:nvSpPr>
          <p:cNvPr id="101" name="Google Shape;101;p11"/>
          <p:cNvSpPr txBox="1"/>
          <p:nvPr/>
        </p:nvSpPr>
        <p:spPr>
          <a:xfrm>
            <a:off x="8219238" y="1870350"/>
            <a:ext cx="3809400" cy="330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02" name="Google Shape;102;p11"/>
          <p:cNvSpPr txBox="1"/>
          <p:nvPr>
            <p:ph idx="1" type="body"/>
          </p:nvPr>
        </p:nvSpPr>
        <p:spPr>
          <a:xfrm>
            <a:off x="8219313" y="5453950"/>
            <a:ext cx="3809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five-character code, a C# snippet on /paste, then the Gemini review on the VR screen.</a:t>
            </a:r>
            <a:endParaRPr sz="2000"/>
          </a:p>
        </p:txBody>
      </p:sp>
      <p:sp>
        <p:nvSpPr>
          <p:cNvPr id="103" name="Google Shape;103;p11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01" name="Terminal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275" y="1870350"/>
            <a:ext cx="3809400" cy="3305700"/>
          </a:xfrm>
          <a:prstGeom prst="rect">
            <a:avLst/>
          </a:prstGeom>
        </p:spPr>
      </p:pic>
      <p:pic>
        <p:nvPicPr>
          <p:cNvPr id="602" name="Presets"/>
          <p:cNvPicPr>
            <a:picLocks noChangeAspect="0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213" y="1870350"/>
            <a:ext cx="3809400" cy="3305700"/>
          </a:xfrm>
          <a:prstGeom prst="rect">
            <a:avLst/>
          </a:prstGeom>
        </p:spPr>
      </p:pic>
      <p:pic>
        <p:nvPicPr>
          <p:cNvPr id="603" name="Paste"/>
          <p:cNvPicPr>
            <a:picLocks noChangeAspect="0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238" y="1870350"/>
            <a:ext cx="3809400" cy="3305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>
            <a:off x="322875" y="314575"/>
            <a:ext cx="100899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Implementation</a:t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22725" y="1188925"/>
            <a:ext cx="11546400" cy="50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Tools and software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Unity, VRChat SDK3, UdonSharp, C# / .NET 10, ASP.NET Minimal APIs, Docker, Render, Google Gemini, GitHub, NUnit.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Development process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1) Align the HTTP contract with VRChat GET-only limits. 2) Build the .NET proxy and 24 presets. 3) Package the UdonSharp terminal. 4) Deploy to Render and verify the live inbox.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VRChat integration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The prefab uses VRCStringDownloader only. URLs are baked to https://codesensei-d5zi.onrender.com. Players must enable Allow Untrusted URLs. Polling respects the 5.5 s VRChat limit.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Technical challenges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Udon cannot POST, so review is a ticket plus /paste. VRChat blocks our host until Allow Untrusted URLs is on. Render Free sleeps. Tickets stay in memory. Lines wrap at 55 characters.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Assets follow VRChat SDK3 / UdonSharp and are ready for the NEXT MetaLab world.</a:t>
            </a:r>
            <a:endParaRPr i="1" sz="2000"/>
          </a:p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title"/>
          </p:nvPr>
        </p:nvSpPr>
        <p:spPr>
          <a:xfrm>
            <a:off x="322875" y="314575"/>
            <a:ext cx="100899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Integration into NEXT-Study Metaverse</a:t>
            </a:r>
            <a:endParaRPr/>
          </a:p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322725" y="1459350"/>
            <a:ext cx="11546400" cy="47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Educational use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In the MetaLab hall a student opens an OOP preset or starts a review. The teacher and the group see the same synced text.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User experience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Visitors read 24 short explanations, take a review ticket, paste a snippet, and read a mentor reply fitted to the VR screen.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Further development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Next: a ticket store that survives restarts, more languages, a host that stays awake, extra topics, and a public listing once the prefab stays in MetaLab.</a:t>
            </a:r>
            <a:endParaRPr sz="2300"/>
          </a:p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322725" y="1459350"/>
            <a:ext cx="11546400" cy="47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Project demo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Live demo: https://codesensei-d5zi.onrender.com/paste   Health: https://codesensei-d5zi.onrender.com/health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Project materials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GitHub: https://github.com/mamenkomarkus-creator/CodeSensei   Prefab: client/CodeSensei.unitypackage   API: docs/api.md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Additional resources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VRChat: https://hello.vrchat.com/   NEXT: https://nextstudy.eu/   Docs: presentation-materials/documentation/DOCUMENTATION.md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All links are public. Authorship of artefacts remains with the team.</a:t>
            </a:r>
            <a:endParaRPr i="1" sz="2000"/>
          </a:p>
        </p:txBody>
      </p:sp>
      <p:sp>
        <p:nvSpPr>
          <p:cNvPr id="126" name="Google Shape;126;p14"/>
          <p:cNvSpPr txBox="1"/>
          <p:nvPr>
            <p:ph type="title"/>
          </p:nvPr>
        </p:nvSpPr>
        <p:spPr>
          <a:xfrm>
            <a:off x="322875" y="314575"/>
            <a:ext cx="100899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and Project Materials</a:t>
            </a:r>
            <a:endParaRPr/>
          </a:p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01" name="QR GitHub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000" y="1600000"/>
            <a:ext cx="1600000" cy="1600000"/>
          </a:xfrm>
          <a:prstGeom prst="rect">
            <a:avLst/>
          </a:prstGeom>
        </p:spPr>
      </p:pic>
      <p:pic>
        <p:nvPicPr>
          <p:cNvPr id="902" name="QR Paste"/>
          <p:cNvPicPr>
            <a:picLocks noChangeAspect="0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0000" y="3400000"/>
            <a:ext cx="1600000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ctrTitle"/>
          </p:nvPr>
        </p:nvSpPr>
        <p:spPr>
          <a:xfrm>
            <a:off x="322729" y="2400300"/>
            <a:ext cx="11470200" cy="211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3000"/>
              <a:t>Questions?</a:t>
            </a:r>
            <a:endParaRPr sz="3000"/>
          </a:p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322875" y="314575"/>
            <a:ext cx="100308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Team (continued)</a:t>
            </a:r>
            <a:endParaRPr/>
          </a:p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1335775" y="1244575"/>
            <a:ext cx="1924800" cy="1924800"/>
          </a:xfrm>
          <a:prstGeom prst="ellipse">
            <a:avLst/>
          </a:prstGeom>
        </p:spPr>
      </p:sp>
      <p:sp>
        <p:nvSpPr>
          <p:cNvPr id="55" name="Google Shape;55;p7"/>
          <p:cNvSpPr txBox="1"/>
          <p:nvPr/>
        </p:nvSpPr>
        <p:spPr>
          <a:xfrm>
            <a:off x="70877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Sviatoslav Pavlenko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VRChat client. UdonSharp terminal, GET-only networking, prefab.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5133600" y="1244575"/>
            <a:ext cx="1924800" cy="1924800"/>
          </a:xfrm>
          <a:prstGeom prst="ellipse">
            <a:avLst/>
          </a:prstGeom>
        </p:spPr>
      </p:sp>
      <p:sp>
        <p:nvSpPr>
          <p:cNvPr id="57" name="Google Shape;57;p7"/>
          <p:cNvSpPr txBox="1"/>
          <p:nvPr/>
        </p:nvSpPr>
        <p:spPr>
          <a:xfrm>
            <a:off x="4506600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Dmytro Poshytyniuk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World integration. MetaLab assembly, VRChat SDK, scene placement.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8" name="Google Shape;58;p7"/>
          <p:cNvSpPr/>
          <p:nvPr>
            <p:ph idx="2" type="pic"/>
          </p:nvPr>
        </p:nvSpPr>
        <p:spPr>
          <a:xfrm>
            <a:off x="8931425" y="1244575"/>
            <a:ext cx="1924800" cy="1924800"/>
          </a:xfrm>
          <a:prstGeom prst="ellipse">
            <a:avLst/>
          </a:prstGeom>
        </p:spPr>
      </p:sp>
      <p:sp>
        <p:nvSpPr>
          <p:cNvPr id="59" name="Google Shape;59;p7"/>
          <p:cNvSpPr txBox="1"/>
          <p:nvPr/>
        </p:nvSpPr>
        <p:spPr>
          <a:xfrm>
            <a:off x="830442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Five authors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Artefacts stay with the five authors. NEXT may use them for teaching.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22875" y="6168150"/>
            <a:ext cx="66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Five people. Artefacts stay with the team.</a:t>
            </a:r>
            <a:endParaRPr i="1" sz="2000"/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í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XT Project">
  <a:themeElements>
    <a:clrScheme name="NEXT Project">
      <a:dk1>
        <a:srgbClr val="000000"/>
      </a:dk1>
      <a:lt1>
        <a:srgbClr val="FFFFFF"/>
      </a:lt1>
      <a:dk2>
        <a:srgbClr val="3F5774"/>
      </a:dk2>
      <a:lt2>
        <a:srgbClr val="D7E4F3"/>
      </a:lt2>
      <a:accent1>
        <a:srgbClr val="5E2CEB"/>
      </a:accent1>
      <a:accent2>
        <a:srgbClr val="906EF1"/>
      </a:accent2>
      <a:accent3>
        <a:srgbClr val="FF9200"/>
      </a:accent3>
      <a:accent4>
        <a:srgbClr val="E5171C"/>
      </a:accent4>
      <a:accent5>
        <a:srgbClr val="FEE600"/>
      </a:accent5>
      <a:accent6>
        <a:srgbClr val="70C51D"/>
      </a:accent6>
      <a:hlink>
        <a:srgbClr val="009EDB"/>
      </a:hlink>
      <a:folHlink>
        <a:srgbClr val="009E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