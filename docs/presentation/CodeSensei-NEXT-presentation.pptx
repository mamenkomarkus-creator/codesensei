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ContentType="application/vnd.openxmlformats-officedocument.presentationml.slide+xml" PartName="/ppt/slides/slide1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66" r:id="rId1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3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37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6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73b7d3f24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f73b7d3f24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73b7d3f24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7345a2c0c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7345a2c0c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f7345a2c0c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73b7d3f24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73b7d3f24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f73b7d3f24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73b7d3f24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73b7d3f24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73b7d3f24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7345a2c0c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7345a2c0c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f7345a2c0c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73b7d3f24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73b7d3f24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f73b7d3f24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73b7d3f24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73b7d3f24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f73b7d3f24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73b7d3f24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73b7d3f24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73b7d3f24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7345a2c0c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7345a2c0c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f7345a2c0c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Page v2">
  <p:cSld name="Intro Page v2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22729" y="1122363"/>
            <a:ext cx="7198659" cy="3391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  <a:defRPr b="0" i="0" u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22725" y="4831975"/>
            <a:ext cx="71988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9pPr>
          </a:lstStyle>
          <a:p/>
        </p:txBody>
      </p:sp>
      <p:sp>
        <p:nvSpPr>
          <p:cNvPr id="18" name="Google Shape;18;p2"/>
          <p:cNvSpPr txBox="1"/>
          <p:nvPr/>
        </p:nvSpPr>
        <p:spPr>
          <a:xfrm>
            <a:off x="10033686" y="6220407"/>
            <a:ext cx="18360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nextstudy.eu</a:t>
            </a:r>
            <a:endParaRPr/>
          </a:p>
        </p:txBody>
      </p:sp>
      <p:pic>
        <p:nvPicPr>
          <p:cNvPr id="19" name="Google Shape;1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13500" y="0"/>
            <a:ext cx="19939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3950" y="104275"/>
            <a:ext cx="3519326" cy="77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275" y="262350"/>
            <a:ext cx="6917576" cy="62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/>
          <p:nvPr>
            <p:ph idx="2" type="body"/>
          </p:nvPr>
        </p:nvSpPr>
        <p:spPr>
          <a:xfrm>
            <a:off x="337075" y="5452375"/>
            <a:ext cx="7170000" cy="10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2pPr>
            <a:lvl3pPr indent="-228600" lvl="2" marL="1371600"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3pPr>
            <a:lvl4pPr indent="-228600" lvl="3" marL="1828800"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4pPr>
            <a:lvl5pPr indent="-228600" lvl="4" marL="2286000">
              <a:spcBef>
                <a:spcPts val="500"/>
              </a:spcBef>
              <a:spcAft>
                <a:spcPts val="0"/>
              </a:spcAft>
              <a:buSzPts val="2400"/>
              <a:buNone/>
              <a:defRPr sz="2400"/>
            </a:lvl5pPr>
            <a:lvl6pPr indent="-381000" lvl="5" marL="2743200"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6pPr>
            <a:lvl7pPr indent="-381000" lvl="6" marL="3200400"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7pPr>
            <a:lvl8pPr indent="-381000" lvl="7" marL="3657600"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8pPr>
            <a:lvl9pPr indent="-381000" lvl="8" marL="4114800"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Column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322875" y="314575"/>
            <a:ext cx="100899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322725" y="1459350"/>
            <a:ext cx="11546400" cy="47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3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3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800"/>
            </a:lvl5pPr>
            <a:lvl6pPr indent="-3302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610599" y="6356350"/>
            <a:ext cx="32586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615350" y="314575"/>
            <a:ext cx="1253928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Column 1">
  <p:cSld name="OBJECT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322875" y="314575"/>
            <a:ext cx="100308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8610599" y="6356350"/>
            <a:ext cx="3258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2" name="Google Shape;3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615350" y="314575"/>
            <a:ext cx="1253928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>
            <p:ph idx="2" type="pic"/>
          </p:nvPr>
        </p:nvSpPr>
        <p:spPr>
          <a:xfrm>
            <a:off x="786525" y="1504075"/>
            <a:ext cx="1924800" cy="19248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Page">
  <p:cSld name="Thank you Pag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ctrTitle"/>
          </p:nvPr>
        </p:nvSpPr>
        <p:spPr>
          <a:xfrm>
            <a:off x="322729" y="2400300"/>
            <a:ext cx="11470342" cy="2117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b="0" i="0" sz="4800" u="none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2263" y="6220407"/>
            <a:ext cx="57737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nextstudy.eu</a:t>
            </a:r>
            <a:endParaRPr b="0" i="0" sz="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2275" y="314150"/>
            <a:ext cx="3316150" cy="10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0525" y="5612004"/>
            <a:ext cx="4002550" cy="88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22729" y="314582"/>
            <a:ext cx="11546542" cy="114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22729" y="1825625"/>
            <a:ext cx="1154654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322729" y="6356350"/>
            <a:ext cx="32586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599" y="6356350"/>
            <a:ext cx="32586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10" Type="http://schemas.openxmlformats.org/officeDocument/2006/relationships/image" Target="../media/metalab.png"/><Relationship Id="rId11" Type="http://schemas.openxmlformats.org/officeDocument/2006/relationships/image" Target="../media/campus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10" Type="http://schemas.openxmlformats.org/officeDocument/2006/relationships/image" Target="../media/vr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10" Type="http://schemas.openxmlformats.org/officeDocument/2006/relationships/image" Target="../media/terminal.png"/><Relationship Id="rId11" Type="http://schemas.openxmlformats.org/officeDocument/2006/relationships/image" Target="../media/presets.png"/><Relationship Id="rId12" Type="http://schemas.openxmlformats.org/officeDocument/2006/relationships/image" Target="../media/paste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10" Type="http://schemas.openxmlformats.org/officeDocument/2006/relationships/image" Target="../media/qrGithub.png"/><Relationship Id="rId11" Type="http://schemas.openxmlformats.org/officeDocument/2006/relationships/image" Target="../media/qrPaste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ctrTitle"/>
          </p:nvPr>
        </p:nvSpPr>
        <p:spPr>
          <a:xfrm>
            <a:off x="322725" y="1435000"/>
            <a:ext cx="8003700" cy="150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</a:pPr>
            <a:r>
              <a:rPr lang="en-GB"/>
              <a:t>CodeSensei</a:t>
            </a:r>
            <a:endParaRPr/>
          </a:p>
        </p:txBody>
      </p:sp>
      <p:sp>
        <p:nvSpPr>
          <p:cNvPr id="45" name="Google Shape;45;p6"/>
          <p:cNvSpPr txBox="1"/>
          <p:nvPr>
            <p:ph idx="1" type="subTitle"/>
          </p:nvPr>
        </p:nvSpPr>
        <p:spPr>
          <a:xfrm>
            <a:off x="308275" y="3293988"/>
            <a:ext cx="71988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Nomination:</a:t>
            </a:r>
            <a:r>
              <a:rPr lang="en-GB"/>
              <a:t> Nomination I — Virtual university location</a:t>
            </a:r>
            <a:endParaRPr/>
          </a:p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322675" y="3914400"/>
            <a:ext cx="7170000" cy="94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Team </a:t>
            </a:r>
            <a:r>
              <a:rPr b="1" lang="en-GB"/>
              <a:t>CodeSensei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Igor Sikorsky Kyiv Polytechnic Institute</a:t>
            </a:r>
            <a:endParaRPr/>
          </a:p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322675" y="5034600"/>
            <a:ext cx="7170000" cy="15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/>
              <a:t>Team members: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Mark Mamenko, Kateryna Shozda, Denys Ilienko, Sviatoslav Pavlenko, Dmytro Poshytyniuk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322875" y="314575"/>
            <a:ext cx="10030800" cy="6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Team</a:t>
            </a:r>
            <a:endParaRPr/>
          </a:p>
        </p:txBody>
      </p:sp>
      <p:sp>
        <p:nvSpPr>
          <p:cNvPr id="54" name="Google Shape;54;p7"/>
          <p:cNvSpPr/>
          <p:nvPr>
            <p:ph idx="2" type="pic"/>
          </p:nvPr>
        </p:nvSpPr>
        <p:spPr>
          <a:xfrm>
            <a:off x="1335775" y="1244575"/>
            <a:ext cx="1924800" cy="1924800"/>
          </a:xfrm>
          <a:prstGeom prst="ellipse">
            <a:avLst/>
          </a:prstGeom>
        </p:spPr>
      </p:sp>
      <p:sp>
        <p:nvSpPr>
          <p:cNvPr id="55" name="Google Shape;55;p7"/>
          <p:cNvSpPr txBox="1"/>
          <p:nvPr/>
        </p:nvSpPr>
        <p:spPr>
          <a:xfrm>
            <a:off x="708775" y="3356000"/>
            <a:ext cx="31788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Mark Mamenko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Igor Sikorsky KPI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Role in the project: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Team lead. Backend API, Gemini proxy, Render hosting.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6" name="Google Shape;56;p7"/>
          <p:cNvSpPr/>
          <p:nvPr>
            <p:ph idx="2" type="pic"/>
          </p:nvPr>
        </p:nvSpPr>
        <p:spPr>
          <a:xfrm>
            <a:off x="5133600" y="1244575"/>
            <a:ext cx="1924800" cy="1924800"/>
          </a:xfrm>
          <a:prstGeom prst="ellipse">
            <a:avLst/>
          </a:prstGeom>
        </p:spPr>
      </p:sp>
      <p:sp>
        <p:nvSpPr>
          <p:cNvPr id="57" name="Google Shape;57;p7"/>
          <p:cNvSpPr txBox="1"/>
          <p:nvPr/>
        </p:nvSpPr>
        <p:spPr>
          <a:xfrm>
            <a:off x="4506600" y="3356000"/>
            <a:ext cx="31788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Kateryna Shozda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Igor Sikorsky KPI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Role in the project: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Learning design. OOP presets and mentor prompts.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8" name="Google Shape;58;p7"/>
          <p:cNvSpPr/>
          <p:nvPr>
            <p:ph idx="2" type="pic"/>
          </p:nvPr>
        </p:nvSpPr>
        <p:spPr>
          <a:xfrm>
            <a:off x="8931425" y="1244575"/>
            <a:ext cx="1924800" cy="1924800"/>
          </a:xfrm>
          <a:prstGeom prst="ellipse">
            <a:avLst/>
          </a:prstGeom>
        </p:spPr>
      </p:sp>
      <p:sp>
        <p:nvSpPr>
          <p:cNvPr id="59" name="Google Shape;59;p7"/>
          <p:cNvSpPr txBox="1"/>
          <p:nvPr/>
        </p:nvSpPr>
        <p:spPr>
          <a:xfrm>
            <a:off x="8304425" y="3356000"/>
            <a:ext cx="31788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Denys Ilienko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Igor Sikorsky KPI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Role in the project: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Quality assurance. Tests, API contract, demo checklist.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0" name="Google Shape;60;p7"/>
          <p:cNvSpPr txBox="1"/>
          <p:nvPr/>
        </p:nvSpPr>
        <p:spPr>
          <a:xfrm>
            <a:off x="322875" y="6168150"/>
            <a:ext cx="664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000"/>
              <a:t>Note:</a:t>
            </a:r>
            <a:r>
              <a:rPr i="1" lang="en-GB" sz="2000"/>
              <a:t> Continued on the next slide.</a:t>
            </a:r>
            <a:endParaRPr i="1" sz="2000"/>
          </a:p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8610599" y="6356350"/>
            <a:ext cx="3258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idx="1" type="body"/>
          </p:nvPr>
        </p:nvSpPr>
        <p:spPr>
          <a:xfrm>
            <a:off x="322725" y="1201400"/>
            <a:ext cx="11546400" cy="50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400"/>
              <a:t>SELECTED LOCATION</a:t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600"/>
              <a:t>Multimedia Laboratory (MetaLab), Igor Sikorsky KPI</a:t>
            </a:r>
            <a:endParaRPr sz="2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MetaLab is the university multimedia space established under Erasmus+ NEXT. It is the physical counterpart of the virtual classroom where students practise digital and programming skills.</a:t>
            </a:r>
            <a:endParaRPr sz="2300"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/>
              <a:t>MODELLED SCOPE</a:t>
            </a:r>
            <a:endParaRPr b="1" sz="24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-GB" sz="2300"/>
              <a:t>Student workstation with the CodeSensei terminal; 24 OOP preset buttons; code-review station (5-character ticket + /paste); shared display for collaborative learning.</a:t>
            </a:r>
            <a:endParaRPr sz="2000"/>
          </a:p>
        </p:txBody>
      </p:sp>
      <p:sp>
        <p:nvSpPr>
          <p:cNvPr id="68" name="Google Shape;68;p8"/>
          <p:cNvSpPr txBox="1"/>
          <p:nvPr>
            <p:ph type="title"/>
          </p:nvPr>
        </p:nvSpPr>
        <p:spPr>
          <a:xfrm>
            <a:off x="322875" y="314575"/>
            <a:ext cx="9905700" cy="7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Selected Location</a:t>
            </a:r>
            <a:endParaRPr/>
          </a:p>
        </p:txBody>
      </p:sp>
      <p:sp>
        <p:nvSpPr>
          <p:cNvPr id="69" name="Google Shape;69;p8"/>
          <p:cNvSpPr txBox="1"/>
          <p:nvPr>
            <p:ph idx="12" type="sldNum"/>
          </p:nvPr>
        </p:nvSpPr>
        <p:spPr>
          <a:xfrm>
            <a:off x="8610599" y="6356350"/>
            <a:ext cx="3258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/>
          <p:nvPr>
            <p:ph type="title"/>
          </p:nvPr>
        </p:nvSpPr>
        <p:spPr>
          <a:xfrm>
            <a:off x="322875" y="314575"/>
            <a:ext cx="10030800" cy="11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Selected Location</a:t>
            </a:r>
            <a:endParaRPr/>
          </a:p>
        </p:txBody>
      </p:sp>
      <p:sp>
        <p:nvSpPr>
          <p:cNvPr id="76" name="Google Shape;76;p9"/>
          <p:cNvSpPr txBox="1"/>
          <p:nvPr/>
        </p:nvSpPr>
        <p:spPr>
          <a:xfrm>
            <a:off x="322800" y="1459375"/>
            <a:ext cx="11546400" cy="4905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</a:rPr>
              <a:t>MetaLab workstation — reference interior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</a:rPr>
              <a:t>Campus context, Igor Sikorsky KPI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77" name="Google Shape;77;p9"/>
          <p:cNvSpPr/>
          <p:nvPr>
            <p:ph idx="2" type="pic"/>
          </p:nvPr>
        </p:nvSpPr>
        <p:spPr>
          <a:xfrm>
            <a:off x="786525" y="1504075"/>
            <a:ext cx="1924800" cy="1924800"/>
          </a:xfrm>
          <a:prstGeom prst="ellipse">
            <a:avLst/>
          </a:prstGeom>
        </p:spPr>
      </p:sp>
      <p:sp>
        <p:nvSpPr>
          <p:cNvPr id="78" name="Google Shape;78;p9"/>
          <p:cNvSpPr txBox="1"/>
          <p:nvPr>
            <p:ph idx="12" type="sldNum"/>
          </p:nvPr>
        </p:nvSpPr>
        <p:spPr>
          <a:xfrm>
            <a:off x="8610599" y="6356350"/>
            <a:ext cx="3258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01" name="MetaLab"/>
          <p:cNvPicPr>
            <a:picLocks noChangeAspect="0"/>
          </p:cNvPicPr>
          <p:nvPr/>
        </p:nvPicPr>
        <p:blipFill>
          <a:blip r:embed="rId10"/>
          <a:stretch>
            <a:fillRect/>
          </a:stretch>
        </p:blipFill>
        <p:spPr>
          <a:xfrm>
            <a:off x="322800" y="1459375"/>
            <a:ext cx="7000000" cy="4300000"/>
          </a:xfrm>
          <a:prstGeom prst="rect">
            <a:avLst/>
          </a:prstGeom>
        </p:spPr>
      </p:pic>
      <p:pic>
        <p:nvPicPr>
          <p:cNvPr id="402" name="Campus"/>
          <p:cNvPicPr>
            <a:picLocks noChangeAspect="0"/>
          </p:cNvPicPr>
          <p:nvPr/>
        </p:nvPicPr>
        <p:blipFill>
          <a:blip r:embed="rId11"/>
          <a:stretch>
            <a:fillRect/>
          </a:stretch>
        </p:blipFill>
        <p:spPr>
          <a:xfrm>
            <a:off x="7500000" y="1459375"/>
            <a:ext cx="4300000" cy="43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/>
          <p:nvPr>
            <p:ph type="title"/>
          </p:nvPr>
        </p:nvSpPr>
        <p:spPr>
          <a:xfrm>
            <a:off x="322875" y="314575"/>
            <a:ext cx="10030800" cy="11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Virtual Model</a:t>
            </a:r>
            <a:endParaRPr/>
          </a:p>
        </p:txBody>
      </p:sp>
      <p:sp>
        <p:nvSpPr>
          <p:cNvPr id="85" name="Google Shape;85;p10"/>
          <p:cNvSpPr txBox="1"/>
          <p:nvPr/>
        </p:nvSpPr>
        <p:spPr>
          <a:xfrm>
            <a:off x="322800" y="1459375"/>
            <a:ext cx="11546400" cy="4905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</a:rPr>
              <a:t>CodeSensei terminal in the virtual laboratory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</a:rPr>
              <a:t>UdonSharp terminal with 55-character lines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86" name="Google Shape;86;p10"/>
          <p:cNvSpPr/>
          <p:nvPr>
            <p:ph idx="2" type="pic"/>
          </p:nvPr>
        </p:nvSpPr>
        <p:spPr>
          <a:xfrm>
            <a:off x="786525" y="1504075"/>
            <a:ext cx="1924800" cy="1924800"/>
          </a:xfrm>
          <a:prstGeom prst="ellipse">
            <a:avLst/>
          </a:prstGeom>
        </p:spPr>
      </p:sp>
      <p:sp>
        <p:nvSpPr>
          <p:cNvPr id="87" name="Google Shape;87;p10"/>
          <p:cNvSpPr txBox="1"/>
          <p:nvPr>
            <p:ph idx="12" type="sldNum"/>
          </p:nvPr>
        </p:nvSpPr>
        <p:spPr>
          <a:xfrm>
            <a:off x="8610599" y="6356350"/>
            <a:ext cx="3258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01" name="VR model"/>
          <p:cNvPicPr>
            <a:picLocks noChangeAspect="0"/>
          </p:cNvPicPr>
          <p:nvPr/>
        </p:nvPicPr>
        <p:blipFill>
          <a:blip r:embed="rId10"/>
          <a:stretch>
            <a:fillRect/>
          </a:stretch>
        </p:blipFill>
        <p:spPr>
          <a:xfrm>
            <a:off x="322800" y="1459375"/>
            <a:ext cx="11546400" cy="43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/>
          <p:nvPr>
            <p:ph type="title"/>
          </p:nvPr>
        </p:nvSpPr>
        <p:spPr>
          <a:xfrm>
            <a:off x="322875" y="314575"/>
            <a:ext cx="10089900" cy="8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Digital Artefacts</a:t>
            </a:r>
            <a:endParaRPr/>
          </a:p>
        </p:txBody>
      </p:sp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438675" y="1198350"/>
            <a:ext cx="3258600" cy="6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200"/>
              <a:t>CodeSensei Terminal</a:t>
            </a:r>
            <a:endParaRPr b="1" sz="2200"/>
          </a:p>
        </p:txBody>
      </p:sp>
      <p:sp>
        <p:nvSpPr>
          <p:cNvPr id="95" name="Google Shape;95;p11"/>
          <p:cNvSpPr txBox="1"/>
          <p:nvPr/>
        </p:nvSpPr>
        <p:spPr>
          <a:xfrm>
            <a:off x="163275" y="1870350"/>
            <a:ext cx="3809400" cy="330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</a:rPr>
              <a:t/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163350" y="5453950"/>
            <a:ext cx="38094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VRChat prefab: UdonSharp terminal, 5.5 s GET queue, synced answers.</a:t>
            </a:r>
            <a:endParaRPr sz="2000"/>
          </a:p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>
            <a:off x="4466613" y="1198350"/>
            <a:ext cx="3258600" cy="6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200"/>
              <a:t>OOP preset catalogue</a:t>
            </a:r>
            <a:endParaRPr b="1" sz="2200"/>
          </a:p>
        </p:txBody>
      </p:sp>
      <p:sp>
        <p:nvSpPr>
          <p:cNvPr id="98" name="Google Shape;98;p11"/>
          <p:cNvSpPr txBox="1"/>
          <p:nvPr/>
        </p:nvSpPr>
        <p:spPr>
          <a:xfrm>
            <a:off x="4191213" y="1870350"/>
            <a:ext cx="3809400" cy="330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</a:rPr>
              <a:t/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4191288" y="5453950"/>
            <a:ext cx="38094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24 OOP topics (encapsulation to OOP vs procedural) on preset buttons.</a:t>
            </a:r>
            <a:endParaRPr sz="2000"/>
          </a:p>
        </p:txBody>
      </p:sp>
      <p:sp>
        <p:nvSpPr>
          <p:cNvPr id="100" name="Google Shape;100;p11"/>
          <p:cNvSpPr txBox="1"/>
          <p:nvPr>
            <p:ph idx="1" type="body"/>
          </p:nvPr>
        </p:nvSpPr>
        <p:spPr>
          <a:xfrm>
            <a:off x="8494638" y="1198350"/>
            <a:ext cx="3258600" cy="6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200"/>
              <a:t>AI code-review inbox</a:t>
            </a:r>
            <a:endParaRPr b="1" sz="2200"/>
          </a:p>
        </p:txBody>
      </p:sp>
      <p:sp>
        <p:nvSpPr>
          <p:cNvPr id="101" name="Google Shape;101;p11"/>
          <p:cNvSpPr txBox="1"/>
          <p:nvPr/>
        </p:nvSpPr>
        <p:spPr>
          <a:xfrm>
            <a:off x="8219238" y="1870350"/>
            <a:ext cx="3809400" cy="330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</a:rPr>
              <a:t/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102" name="Google Shape;102;p11"/>
          <p:cNvSpPr txBox="1"/>
          <p:nvPr>
            <p:ph idx="1" type="body"/>
          </p:nvPr>
        </p:nvSpPr>
        <p:spPr>
          <a:xfrm>
            <a:off x="8219313" y="5453950"/>
            <a:ext cx="3809400" cy="9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Student gets a 5-character code, pastes a snippet, Gemini replies on the VR screen.</a:t>
            </a:r>
            <a:endParaRPr sz="2000"/>
          </a:p>
        </p:txBody>
      </p:sp>
      <p:sp>
        <p:nvSpPr>
          <p:cNvPr id="103" name="Google Shape;103;p11"/>
          <p:cNvSpPr txBox="1"/>
          <p:nvPr>
            <p:ph idx="12" type="sldNum"/>
          </p:nvPr>
        </p:nvSpPr>
        <p:spPr>
          <a:xfrm>
            <a:off x="8610599" y="6356350"/>
            <a:ext cx="3258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01" name="Terminal"/>
          <p:cNvPicPr>
            <a:picLocks noChangeAspect="0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275" y="1870350"/>
            <a:ext cx="3809400" cy="3305700"/>
          </a:xfrm>
          <a:prstGeom prst="rect">
            <a:avLst/>
          </a:prstGeom>
        </p:spPr>
      </p:pic>
      <p:pic>
        <p:nvPicPr>
          <p:cNvPr id="602" name="Presets"/>
          <p:cNvPicPr>
            <a:picLocks noChangeAspect="0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213" y="1870350"/>
            <a:ext cx="3809400" cy="3305700"/>
          </a:xfrm>
          <a:prstGeom prst="rect">
            <a:avLst/>
          </a:prstGeom>
        </p:spPr>
      </p:pic>
      <p:pic>
        <p:nvPicPr>
          <p:cNvPr id="603" name="Paste"/>
          <p:cNvPicPr>
            <a:picLocks noChangeAspect="0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9238" y="1870350"/>
            <a:ext cx="3809400" cy="3305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 txBox="1"/>
          <p:nvPr>
            <p:ph type="title"/>
          </p:nvPr>
        </p:nvSpPr>
        <p:spPr>
          <a:xfrm>
            <a:off x="322875" y="314575"/>
            <a:ext cx="10089900" cy="7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Technical Implementation</a:t>
            </a:r>
            <a:endParaRPr/>
          </a:p>
        </p:txBody>
      </p:sp>
      <p:sp>
        <p:nvSpPr>
          <p:cNvPr id="110" name="Google Shape;110;p12"/>
          <p:cNvSpPr txBox="1"/>
          <p:nvPr>
            <p:ph idx="1" type="body"/>
          </p:nvPr>
        </p:nvSpPr>
        <p:spPr>
          <a:xfrm>
            <a:off x="322725" y="1188925"/>
            <a:ext cx="11546400" cy="50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300"/>
              <a:t>Tools and software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Unity, VRChat SDK3, UdonSharp, C# / .NET 10, ASP.NET Minimal APIs, Docker, Render, Google Gemini, GitHub, NUnit.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300"/>
              <a:t>Development process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1) Align the HTTP contract with VRChat GET-only limits. 2) Build the .NET proxy and 24 presets. 3) Package the UdonSharp terminal. 4) Deploy to Render and verify the live inbox.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300"/>
              <a:t>VRChat integration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The prefab uses VRCStringDownloader only. URLs are baked to https://codesensei-d5zi.onrender.com. Players must enable Allow Untrusted URLs. Polling respects the 5.5 s VRChat limit.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300"/>
              <a:t>Technical challenges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Udon cannot POST, so review is ticket + /paste + inbox. Render Free sleeps — /health wakes the instance. Pending tickets are hidden so the client does not stop polling early.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-GB" sz="2000"/>
              <a:t>Note:</a:t>
            </a:r>
            <a:r>
              <a:rPr i="1" lang="en-GB" sz="2000"/>
              <a:t> Assets follow VRChat SDK3 / UdonSharp and are ready for the NEXT MetaLab world.</a:t>
            </a:r>
            <a:endParaRPr i="1" sz="2000"/>
          </a:p>
        </p:txBody>
      </p:sp>
      <p:sp>
        <p:nvSpPr>
          <p:cNvPr id="111" name="Google Shape;111;p12"/>
          <p:cNvSpPr txBox="1"/>
          <p:nvPr>
            <p:ph idx="12" type="sldNum"/>
          </p:nvPr>
        </p:nvSpPr>
        <p:spPr>
          <a:xfrm>
            <a:off x="8610599" y="6356350"/>
            <a:ext cx="3258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title"/>
          </p:nvPr>
        </p:nvSpPr>
        <p:spPr>
          <a:xfrm>
            <a:off x="322875" y="314575"/>
            <a:ext cx="10089900" cy="7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Integration into NEXT-Study Metaverse</a:t>
            </a:r>
            <a:endParaRPr/>
          </a:p>
        </p:txBody>
      </p:sp>
      <p:sp>
        <p:nvSpPr>
          <p:cNvPr id="118" name="Google Shape;118;p13"/>
          <p:cNvSpPr txBox="1"/>
          <p:nvPr>
            <p:ph idx="1" type="body"/>
          </p:nvPr>
        </p:nvSpPr>
        <p:spPr>
          <a:xfrm>
            <a:off x="322725" y="1459350"/>
            <a:ext cx="11546400" cy="47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300"/>
              <a:t>Educational use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In the NEXT-Study Metaverse lab a student presses an OOP preset or starts a live code review. A teacher sees the same synced answer on the shared terminal.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300"/>
              <a:t>User experience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Explore 24 OOP explanations, generate a review ticket, paste a snippet on the web form, and read a mentor reply formatted for the VR screen (max 55 characters per line).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300"/>
              <a:t>Further development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Persistent ticket store, more languages, keep-alive Action, additional lab furniture, and a public VRChat world listing after MetaLab import.</a:t>
            </a:r>
            <a:endParaRPr sz="2300"/>
          </a:p>
        </p:txBody>
      </p:sp>
      <p:sp>
        <p:nvSpPr>
          <p:cNvPr id="119" name="Google Shape;119;p13"/>
          <p:cNvSpPr txBox="1"/>
          <p:nvPr>
            <p:ph idx="12" type="sldNum"/>
          </p:nvPr>
        </p:nvSpPr>
        <p:spPr>
          <a:xfrm>
            <a:off x="8610599" y="6356350"/>
            <a:ext cx="3258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>
            <p:ph idx="1" type="body"/>
          </p:nvPr>
        </p:nvSpPr>
        <p:spPr>
          <a:xfrm>
            <a:off x="322725" y="1459350"/>
            <a:ext cx="11546400" cy="476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300"/>
              <a:t>Project demo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Live demo: https://codesensei-d5zi.onrender.com/paste   Health: https://codesensei-d5zi.onrender.com/health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300"/>
              <a:t>Project materials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GitHub: https://github.com/mamenkomarkus-creator/CodeSensei   Prefab: client/CodeSensei.unitypackage   API: docs/api.md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300"/>
              <a:t>Additional resources</a:t>
            </a:r>
            <a:endParaRPr b="1"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300"/>
              <a:t>VRChat: https://hello.vrchat.com/   NEXT: https://nextstudy.eu/   Integration notes: docs/NEXT-INTEGRATION.md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-GB" sz="2000"/>
              <a:t>Note:</a:t>
            </a:r>
            <a:r>
              <a:rPr i="1" lang="en-GB" sz="2000"/>
              <a:t> All links are public. Authorship of artefacts remains with the team.</a:t>
            </a:r>
            <a:endParaRPr i="1" sz="2000"/>
          </a:p>
        </p:txBody>
      </p:sp>
      <p:sp>
        <p:nvSpPr>
          <p:cNvPr id="126" name="Google Shape;126;p14"/>
          <p:cNvSpPr txBox="1"/>
          <p:nvPr>
            <p:ph type="title"/>
          </p:nvPr>
        </p:nvSpPr>
        <p:spPr>
          <a:xfrm>
            <a:off x="322875" y="314575"/>
            <a:ext cx="10089900" cy="7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 and Project Materials</a:t>
            </a:r>
            <a:endParaRPr/>
          </a:p>
        </p:txBody>
      </p:sp>
      <p:sp>
        <p:nvSpPr>
          <p:cNvPr id="127" name="Google Shape;127;p14"/>
          <p:cNvSpPr txBox="1"/>
          <p:nvPr>
            <p:ph idx="12" type="sldNum"/>
          </p:nvPr>
        </p:nvSpPr>
        <p:spPr>
          <a:xfrm>
            <a:off x="8610599" y="6356350"/>
            <a:ext cx="3258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01" name="QR GitHub"/>
          <p:cNvPicPr>
            <a:picLocks noChangeAspect="0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0000" y="1600000"/>
            <a:ext cx="1600000" cy="1600000"/>
          </a:xfrm>
          <a:prstGeom prst="rect">
            <a:avLst/>
          </a:prstGeom>
        </p:spPr>
      </p:pic>
      <p:pic>
        <p:nvPicPr>
          <p:cNvPr id="902" name="QR Paste"/>
          <p:cNvPicPr>
            <a:picLocks noChangeAspect="0"/>
          </p:cNvPicPr>
          <p:nvPr/>
        </p:nvPicPr>
        <p:blipFill>
          <a:blip r:embed="rId11"/>
          <a:stretch>
            <a:fillRect/>
          </a:stretch>
        </p:blipFill>
        <p:spPr>
          <a:xfrm>
            <a:off x="9800000" y="3400000"/>
            <a:ext cx="1600000" cy="16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 txBox="1"/>
          <p:nvPr>
            <p:ph type="ctrTitle"/>
          </p:nvPr>
        </p:nvSpPr>
        <p:spPr>
          <a:xfrm>
            <a:off x="322729" y="2400300"/>
            <a:ext cx="11470200" cy="211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you!</a:t>
            </a:r>
            <a:endParaRPr/>
          </a:p>
          <a:p>
            <a:pPr indent="0" lvl="0" marL="0" rtl="0" algn="ctr"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3000"/>
              <a:t>Questions?</a:t>
            </a:r>
            <a:endParaRPr sz="3000"/>
          </a:p>
        </p:txBody>
      </p:sp>
      <p:sp>
        <p:nvSpPr>
          <p:cNvPr id="134" name="Google Shape;134;p15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322875" y="314575"/>
            <a:ext cx="10030800" cy="6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Team (continued)</a:t>
            </a:r>
            <a:endParaRPr/>
          </a:p>
        </p:txBody>
      </p:sp>
      <p:sp>
        <p:nvSpPr>
          <p:cNvPr id="54" name="Google Shape;54;p7"/>
          <p:cNvSpPr/>
          <p:nvPr>
            <p:ph idx="2" type="pic"/>
          </p:nvPr>
        </p:nvSpPr>
        <p:spPr>
          <a:xfrm>
            <a:off x="1335775" y="1244575"/>
            <a:ext cx="1924800" cy="1924800"/>
          </a:xfrm>
          <a:prstGeom prst="ellipse">
            <a:avLst/>
          </a:prstGeom>
        </p:spPr>
      </p:sp>
      <p:sp>
        <p:nvSpPr>
          <p:cNvPr id="55" name="Google Shape;55;p7"/>
          <p:cNvSpPr txBox="1"/>
          <p:nvPr/>
        </p:nvSpPr>
        <p:spPr>
          <a:xfrm>
            <a:off x="708775" y="3356000"/>
            <a:ext cx="31788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Sviatoslav Pavlenko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Igor Sikorsky KPI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Role in the project: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VRChat client. UdonSharp terminal, GET-only networking, prefab.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6" name="Google Shape;56;p7"/>
          <p:cNvSpPr/>
          <p:nvPr>
            <p:ph idx="2" type="pic"/>
          </p:nvPr>
        </p:nvSpPr>
        <p:spPr>
          <a:xfrm>
            <a:off x="5133600" y="1244575"/>
            <a:ext cx="1924800" cy="1924800"/>
          </a:xfrm>
          <a:prstGeom prst="ellipse">
            <a:avLst/>
          </a:prstGeom>
        </p:spPr>
      </p:sp>
      <p:sp>
        <p:nvSpPr>
          <p:cNvPr id="57" name="Google Shape;57;p7"/>
          <p:cNvSpPr txBox="1"/>
          <p:nvPr/>
        </p:nvSpPr>
        <p:spPr>
          <a:xfrm>
            <a:off x="4506600" y="3356000"/>
            <a:ext cx="31788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Dmytro Poshytyniuk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Igor Sikorsky KPI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Role in the project: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World integration. MetaLab assembly, VRChat SDK, scene placement.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8" name="Google Shape;58;p7"/>
          <p:cNvSpPr/>
          <p:nvPr>
            <p:ph idx="2" type="pic"/>
          </p:nvPr>
        </p:nvSpPr>
        <p:spPr>
          <a:xfrm>
            <a:off x="8931425" y="1244575"/>
            <a:ext cx="1924800" cy="1924800"/>
          </a:xfrm>
          <a:prstGeom prst="ellipse">
            <a:avLst/>
          </a:prstGeom>
        </p:spPr>
      </p:sp>
      <p:sp>
        <p:nvSpPr>
          <p:cNvPr id="59" name="Google Shape;59;p7"/>
          <p:cNvSpPr txBox="1"/>
          <p:nvPr/>
        </p:nvSpPr>
        <p:spPr>
          <a:xfrm>
            <a:off x="8304425" y="3356000"/>
            <a:ext cx="31788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</a:rPr>
              <a:t>CodeSensei authors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</a:rPr>
              <a:t>Igor Sikorsky KPI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Role in the project: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Authorship of created artefacts remains with the team.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0" name="Google Shape;60;p7"/>
          <p:cNvSpPr txBox="1"/>
          <p:nvPr/>
        </p:nvSpPr>
        <p:spPr>
          <a:xfrm>
            <a:off x="322875" y="6168150"/>
            <a:ext cx="664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000"/>
              <a:t>Note:</a:t>
            </a:r>
            <a:r>
              <a:rPr i="1" lang="en-GB" sz="2000"/>
              <a:t> Five authors; artefacts remain the team’s IP.</a:t>
            </a:r>
            <a:endParaRPr i="1" sz="2000"/>
          </a:p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8610599" y="6356350"/>
            <a:ext cx="3258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tív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XT Project">
  <a:themeElements>
    <a:clrScheme name="NEXT Project">
      <a:dk1>
        <a:srgbClr val="000000"/>
      </a:dk1>
      <a:lt1>
        <a:srgbClr val="FFFFFF"/>
      </a:lt1>
      <a:dk2>
        <a:srgbClr val="3F5774"/>
      </a:dk2>
      <a:lt2>
        <a:srgbClr val="D7E4F3"/>
      </a:lt2>
      <a:accent1>
        <a:srgbClr val="5E2CEB"/>
      </a:accent1>
      <a:accent2>
        <a:srgbClr val="906EF1"/>
      </a:accent2>
      <a:accent3>
        <a:srgbClr val="FF9200"/>
      </a:accent3>
      <a:accent4>
        <a:srgbClr val="E5171C"/>
      </a:accent4>
      <a:accent5>
        <a:srgbClr val="FEE600"/>
      </a:accent5>
      <a:accent6>
        <a:srgbClr val="70C51D"/>
      </a:accent6>
      <a:hlink>
        <a:srgbClr val="009EDB"/>
      </a:hlink>
      <a:folHlink>
        <a:srgbClr val="009ED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